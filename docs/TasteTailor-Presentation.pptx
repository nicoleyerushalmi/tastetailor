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998488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0" y="2286000"/>
            <a:ext cx="1219169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TasteTailor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0" y="36576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0C6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Recipes fitted to you.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57607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BFC4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Personalized Recipe Platform  ·  Course Presentation</a:t>
            </a:r>
            <a:endParaRPr lang="en-US" sz="1500" dirty="0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A303BD83-476B-36D9-F75C-BA1D88E83EAF}"/>
              </a:ext>
            </a:extLst>
          </p:cNvPr>
          <p:cNvSpPr/>
          <p:nvPr/>
        </p:nvSpPr>
        <p:spPr>
          <a:xfrm>
            <a:off x="3127760" y="4211655"/>
            <a:ext cx="592223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84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we'll cover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868680" y="1883664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4C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54480" y="1883664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&amp; Solution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587752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868680" y="2642616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4C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2642616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— structure, libraries, AI pipeline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3346704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868680" y="34015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4C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54480" y="3401568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4105656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868680" y="41605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4C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54480" y="41605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&amp; Security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4864608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868680" y="4919472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4C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54480" y="4919472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&amp; Limitations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40080" y="5623560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868680" y="5678424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4C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54480" y="5678424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Q&amp;A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TasteTailor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686800" y="647395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84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TASTETAILOR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&amp; Solution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914400" y="20116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47548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spcAft>
                <a:spcPts val="10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GB" sz="15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Discovered recipes</a:t>
            </a:r>
            <a:r>
              <a:rPr lang="he-IL" sz="15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GB" sz="15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tailored to strict nutritional needs is frustrating.</a:t>
            </a:r>
          </a:p>
          <a:p>
            <a:pPr marL="285750" indent="-285750">
              <a:spcAft>
                <a:spcPts val="10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GB" sz="15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Converting saved meals into an organized shopping list is a hassle.</a:t>
            </a:r>
          </a:p>
          <a:p>
            <a:pPr marL="285750" indent="-285750">
              <a:spcAft>
                <a:spcPts val="10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GB" sz="15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to adapt trending dishes to specific goals (e.g., Celiac, high-protein).</a:t>
            </a:r>
          </a:p>
          <a:p>
            <a:pPr marL="285750" indent="-285750">
              <a:spcAft>
                <a:spcPts val="10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GB" sz="15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easy way to adjust recipes based on ingredients already at home.</a:t>
            </a:r>
          </a:p>
          <a:p>
            <a:pPr marL="285750" indent="-285750">
              <a:spcAft>
                <a:spcPts val="1000"/>
              </a:spcAft>
              <a:buSzPct val="100000"/>
              <a:buFont typeface="Arial" panose="020B0604020202020204" pitchFamily="34" charset="0"/>
              <a:buChar char="•"/>
            </a:pPr>
            <a:endParaRPr lang="en-GB" sz="1500" dirty="0">
              <a:solidFill>
                <a:srgbClr val="141814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257800" cy="4206240"/>
          </a:xfrm>
          <a:prstGeom prst="roundRect">
            <a:avLst>
              <a:gd name="adj" fmla="val 1739"/>
            </a:avLst>
          </a:prstGeom>
          <a:solidFill>
            <a:srgbClr val="141814"/>
          </a:solidFill>
          <a:ln w="12700">
            <a:solidFill>
              <a:srgbClr val="141814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dirty="0"/>
          </a:p>
        </p:txBody>
      </p:sp>
      <p:sp>
        <p:nvSpPr>
          <p:cNvPr id="8" name="Text 6"/>
          <p:cNvSpPr/>
          <p:nvPr/>
        </p:nvSpPr>
        <p:spPr>
          <a:xfrm>
            <a:off x="6537960" y="20116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Solution - </a:t>
            </a:r>
            <a:r>
              <a:rPr lang="en-US" b="1" kern="0" spc="200" dirty="0">
                <a:solidFill>
                  <a:srgbClr val="C84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TASTETAILOR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37960" y="2560320"/>
            <a:ext cx="47548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GB" sz="1500" dirty="0">
                <a:solidFill>
                  <a:schemeClr val="bg1"/>
                </a:solidFill>
              </a:rPr>
              <a:t>Paste a recipe or just name a dish.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GB" sz="1500" dirty="0">
                <a:solidFill>
                  <a:schemeClr val="bg1"/>
                </a:solidFill>
              </a:rPr>
              <a:t>AI rewrites it to fit your saved dietary profile.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GB" sz="1500" dirty="0">
                <a:solidFill>
                  <a:schemeClr val="bg1"/>
                </a:solidFill>
              </a:rPr>
              <a:t>Every substitution in the recipe is explained.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GB" sz="1500" dirty="0">
                <a:solidFill>
                  <a:schemeClr val="bg1"/>
                </a:solidFill>
              </a:rPr>
              <a:t>Easily tweak and adjust the generated recipe to fit your preferences.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GB" sz="1500" dirty="0">
                <a:solidFill>
                  <a:schemeClr val="bg1"/>
                </a:solidFill>
              </a:rPr>
              <a:t>Automatically merges multiple meals into one consolidated shopping list.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GB" sz="1500" dirty="0">
                <a:solidFill>
                  <a:schemeClr val="bg1"/>
                </a:solidFill>
              </a:rPr>
              <a:t>Save your </a:t>
            </a:r>
            <a:r>
              <a:rPr lang="en-GB" sz="1500" dirty="0" err="1">
                <a:solidFill>
                  <a:schemeClr val="bg1"/>
                </a:solidFill>
              </a:rPr>
              <a:t>favorite</a:t>
            </a:r>
            <a:r>
              <a:rPr lang="en-GB" sz="1500" dirty="0">
                <a:solidFill>
                  <a:schemeClr val="bg1"/>
                </a:solidFill>
              </a:rPr>
              <a:t> tailored recipes for quick access.</a:t>
            </a:r>
          </a:p>
          <a:p>
            <a:pPr>
              <a:spcAft>
                <a:spcPts val="1000"/>
              </a:spcAft>
              <a:buSzPct val="100000"/>
            </a:pPr>
            <a:endParaRPr lang="en-US" sz="1500" dirty="0">
              <a:solidFill>
                <a:schemeClr val="bg1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TasteTailor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0" y="647395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84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CODEBASE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Structure &amp; Tech Stack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651760" y="169164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141814"/>
          </a:solidFill>
          <a:ln w="12700">
            <a:solidFill>
              <a:srgbClr val="14181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2651760" y="169164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tastetailor/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 flipH="1">
            <a:off x="1440180" y="2194560"/>
            <a:ext cx="2125980" cy="320040"/>
          </a:xfrm>
          <a:prstGeom prst="line">
            <a:avLst/>
          </a:prstGeom>
          <a:noFill/>
          <a:ln w="15875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17830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640080" y="258775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84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app/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2880360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 &amp; API routes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(Next.js App Router)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 flipH="1">
            <a:off x="3479292" y="2194560"/>
            <a:ext cx="86868" cy="320040"/>
          </a:xfrm>
          <a:prstGeom prst="line">
            <a:avLst/>
          </a:prstGeom>
          <a:noFill/>
          <a:ln w="15875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587752" y="2514600"/>
            <a:ext cx="17830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679192" y="258775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84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components/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679192" y="2880360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UI, organized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feature area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566160" y="2194560"/>
            <a:ext cx="1952244" cy="320040"/>
          </a:xfrm>
          <a:prstGeom prst="line">
            <a:avLst/>
          </a:prstGeom>
          <a:noFill/>
          <a:ln w="15875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4626864" y="2514600"/>
            <a:ext cx="17830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718304" y="258775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84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lib/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718304" y="2880360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logic, AI,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validation, utilities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 flipH="1">
            <a:off x="1440180" y="2194560"/>
            <a:ext cx="2125980" cy="1600200"/>
          </a:xfrm>
          <a:prstGeom prst="line">
            <a:avLst/>
          </a:prstGeom>
          <a:noFill/>
          <a:ln w="15875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48640" y="3794760"/>
            <a:ext cx="17830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640080" y="386791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84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types/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40080" y="4160520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TypeScript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definitions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 flipH="1">
            <a:off x="3479292" y="2194560"/>
            <a:ext cx="86868" cy="1600200"/>
          </a:xfrm>
          <a:prstGeom prst="line">
            <a:avLst/>
          </a:prstGeom>
          <a:noFill/>
          <a:ln w="15875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2587752" y="3794760"/>
            <a:ext cx="17830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2679192" y="386791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84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supabase/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2679192" y="4160520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migrations —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source of truth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566160" y="2194560"/>
            <a:ext cx="1952244" cy="1600200"/>
          </a:xfrm>
          <a:prstGeom prst="line">
            <a:avLst/>
          </a:prstGeom>
          <a:noFill/>
          <a:ln w="15875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4626864" y="3794760"/>
            <a:ext cx="17830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4718304" y="386791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84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docs/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718304" y="4160520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Architecture, testing,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&amp; scale docs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537960" y="1691640"/>
            <a:ext cx="498348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6766560" y="1828800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 Stack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766560" y="2212848"/>
            <a:ext cx="45262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16 (App Router) + TypeScript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 + Tailwind CSS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— Postgres + Auth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 — AI provider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537960" y="3886200"/>
            <a:ext cx="4983480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6766560" y="4023360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766560" y="4407408"/>
            <a:ext cx="45262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b="1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profiles</a:t>
            </a:r>
            <a:endParaRPr lang="en-US" sz="1300" dirty="0"/>
          </a:p>
          <a:p>
            <a:pPr marL="0" lvl="1" indent="0">
              <a:spcAft>
                <a:spcPts val="800"/>
              </a:spcAft>
              <a:buNone/>
            </a:pPr>
            <a:r>
              <a:rPr lang="en-US" sz="120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dietary preferences &amp; daily generation quota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b="1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recipes</a:t>
            </a:r>
            <a:endParaRPr lang="en-US" sz="1300" dirty="0"/>
          </a:p>
          <a:p>
            <a:pPr marL="0" lvl="1" indent="0">
              <a:spcAft>
                <a:spcPts val="800"/>
              </a:spcAft>
              <a:buNone/>
            </a:pPr>
            <a:r>
              <a:rPr lang="en-US" sz="120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generated recipe, owned by its user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b="1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shopping_list_items</a:t>
            </a:r>
            <a:endParaRPr lang="en-US" sz="1300" dirty="0"/>
          </a:p>
          <a:p>
            <a:pPr marL="0" lvl="1" indent="0">
              <a:spcAft>
                <a:spcPts val="800"/>
              </a:spcAft>
              <a:buNone/>
            </a:pPr>
            <a:r>
              <a:rPr lang="en-US" sz="120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active, merged shopping list per user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766560" y="6263640"/>
            <a:ext cx="4526280" cy="384048"/>
          </a:xfrm>
          <a:prstGeom prst="roundRect">
            <a:avLst>
              <a:gd name="adj" fmla="val 14286"/>
            </a:avLst>
          </a:prstGeom>
          <a:solidFill>
            <a:srgbClr val="FDE7C3"/>
          </a:solidFill>
          <a:ln w="12700">
            <a:solidFill>
              <a:srgbClr val="FDE7C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6903720" y="6263640"/>
            <a:ext cx="4251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7A3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 Level Security enforced on every table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TasteTailor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686800" y="647395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84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IN-HOUSE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 Libraries (lib/)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44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777240" y="1920240"/>
            <a:ext cx="502920" cy="274320"/>
          </a:xfrm>
          <a:prstGeom prst="roundRect">
            <a:avLst>
              <a:gd name="adj" fmla="val 16667"/>
            </a:avLst>
          </a:prstGeom>
          <a:solidFill>
            <a:srgbClr val="C84C09"/>
          </a:solidFill>
          <a:ln w="12700">
            <a:solidFill>
              <a:srgbClr val="C84C0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lib/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71600" y="1901952"/>
            <a:ext cx="2575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ai/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258568"/>
            <a:ext cx="316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integration, prompt construction, and validating the model's output before it's trusted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58640" y="1783080"/>
            <a:ext cx="344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4495800" y="1920240"/>
            <a:ext cx="502920" cy="274320"/>
          </a:xfrm>
          <a:prstGeom prst="roundRect">
            <a:avLst>
              <a:gd name="adj" fmla="val 16667"/>
            </a:avLst>
          </a:prstGeom>
          <a:solidFill>
            <a:srgbClr val="C84C09"/>
          </a:solidFill>
          <a:ln w="12700">
            <a:solidFill>
              <a:srgbClr val="C84C0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4495800" y="192024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lib/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0160" y="1901952"/>
            <a:ext cx="2575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validation/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495800" y="2258568"/>
            <a:ext cx="316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set of rules for what a valid request looks like — used by client and server alike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8077200" y="1783080"/>
            <a:ext cx="344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8214360" y="1920240"/>
            <a:ext cx="502920" cy="274320"/>
          </a:xfrm>
          <a:prstGeom prst="roundRect">
            <a:avLst>
              <a:gd name="adj" fmla="val 16667"/>
            </a:avLst>
          </a:prstGeom>
          <a:solidFill>
            <a:srgbClr val="C84C09"/>
          </a:solidFill>
          <a:ln w="12700">
            <a:solidFill>
              <a:srgbClr val="C84C0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8214360" y="192024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lib/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808720" y="1901952"/>
            <a:ext cx="2575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supabase/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14360" y="2258568"/>
            <a:ext cx="316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purpose-built database clients for the browser, the server, and route protection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640080" y="3273552"/>
            <a:ext cx="344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77240" y="3410712"/>
            <a:ext cx="502920" cy="274320"/>
          </a:xfrm>
          <a:prstGeom prst="roundRect">
            <a:avLst>
              <a:gd name="adj" fmla="val 16667"/>
            </a:avLst>
          </a:prstGeom>
          <a:solidFill>
            <a:srgbClr val="C84C09"/>
          </a:solidFill>
          <a:ln w="12700">
            <a:solidFill>
              <a:srgbClr val="C84C0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777240" y="341071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lib/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371600" y="3392424"/>
            <a:ext cx="2575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shopping/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77240" y="3749040"/>
            <a:ext cx="316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Ingredient merging, serving-size scaling, and shopping-list export formatting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4358640" y="3273552"/>
            <a:ext cx="344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4495800" y="3410712"/>
            <a:ext cx="502920" cy="274320"/>
          </a:xfrm>
          <a:prstGeom prst="roundRect">
            <a:avLst>
              <a:gd name="adj" fmla="val 16667"/>
            </a:avLst>
          </a:prstGeom>
          <a:solidFill>
            <a:srgbClr val="C84C09"/>
          </a:solidFill>
          <a:ln w="12700">
            <a:solidFill>
              <a:srgbClr val="C84C0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4495800" y="341071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lib/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090160" y="3392424"/>
            <a:ext cx="2575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images/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495800" y="3749040"/>
            <a:ext cx="316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third-party photo lookup, with a strict allowlist before anything is rendered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8077200" y="3273552"/>
            <a:ext cx="344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8214360" y="3410712"/>
            <a:ext cx="502920" cy="274320"/>
          </a:xfrm>
          <a:prstGeom prst="roundRect">
            <a:avLst>
              <a:gd name="adj" fmla="val 16667"/>
            </a:avLst>
          </a:prstGeom>
          <a:solidFill>
            <a:srgbClr val="C84C09"/>
          </a:solidFill>
          <a:ln w="12700">
            <a:solidFill>
              <a:srgbClr val="C84C0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8214360" y="341071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lib/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808720" y="3392424"/>
            <a:ext cx="2575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security/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214360" y="3749040"/>
            <a:ext cx="316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single, tested gate deciding whether an AI-supplied link is safe to render</a:t>
            </a:r>
            <a:endParaRPr lang="en-US" sz="1080" dirty="0"/>
          </a:p>
        </p:txBody>
      </p:sp>
      <p:sp>
        <p:nvSpPr>
          <p:cNvPr id="34" name="Shape 32"/>
          <p:cNvSpPr/>
          <p:nvPr/>
        </p:nvSpPr>
        <p:spPr>
          <a:xfrm>
            <a:off x="640080" y="4764024"/>
            <a:ext cx="344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777240" y="4901184"/>
            <a:ext cx="502920" cy="274320"/>
          </a:xfrm>
          <a:prstGeom prst="roundRect">
            <a:avLst>
              <a:gd name="adj" fmla="val 16667"/>
            </a:avLst>
          </a:prstGeom>
          <a:solidFill>
            <a:srgbClr val="C84C09"/>
          </a:solidFill>
          <a:ln w="12700">
            <a:solidFill>
              <a:srgbClr val="C84C0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777240" y="4901184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lib/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371600" y="4882896"/>
            <a:ext cx="2575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recipes/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77240" y="5239512"/>
            <a:ext cx="316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the refine feature's chat history — appending, trimming, and prompt windowing</a:t>
            </a:r>
            <a:endParaRPr lang="en-US" sz="1080" dirty="0"/>
          </a:p>
        </p:txBody>
      </p:sp>
      <p:sp>
        <p:nvSpPr>
          <p:cNvPr id="39" name="Shape 37"/>
          <p:cNvSpPr/>
          <p:nvPr/>
        </p:nvSpPr>
        <p:spPr>
          <a:xfrm>
            <a:off x="4358640" y="4764024"/>
            <a:ext cx="344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4495800" y="4901184"/>
            <a:ext cx="502920" cy="274320"/>
          </a:xfrm>
          <a:prstGeom prst="roundRect">
            <a:avLst>
              <a:gd name="adj" fmla="val 16667"/>
            </a:avLst>
          </a:prstGeom>
          <a:solidFill>
            <a:srgbClr val="C84C09"/>
          </a:solidFill>
          <a:ln w="12700">
            <a:solidFill>
              <a:srgbClr val="C84C0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4495800" y="4901184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lib/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090160" y="4882896"/>
            <a:ext cx="2575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profile/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4495800" y="5239512"/>
            <a:ext cx="316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“get the logged-in user + profile” helper, reused across the app</a:t>
            </a:r>
            <a:endParaRPr lang="en-US" sz="1080" dirty="0"/>
          </a:p>
        </p:txBody>
      </p:sp>
      <p:sp>
        <p:nvSpPr>
          <p:cNvPr id="44" name="Shape 42"/>
          <p:cNvSpPr/>
          <p:nvPr/>
        </p:nvSpPr>
        <p:spPr>
          <a:xfrm>
            <a:off x="8077200" y="4764024"/>
            <a:ext cx="344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8214360" y="4901184"/>
            <a:ext cx="502920" cy="274320"/>
          </a:xfrm>
          <a:prstGeom prst="roundRect">
            <a:avLst>
              <a:gd name="adj" fmla="val 16667"/>
            </a:avLst>
          </a:prstGeom>
          <a:solidFill>
            <a:srgbClr val="C84C09"/>
          </a:solidFill>
          <a:ln w="12700">
            <a:solidFill>
              <a:srgbClr val="C84C0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8214360" y="4901184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lib/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808720" y="4882896"/>
            <a:ext cx="2575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generate/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8214360" y="5239512"/>
            <a:ext cx="316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Turns a server error code into consistent, friendly copy on every form</a:t>
            </a:r>
            <a:endParaRPr lang="en-US" sz="1080" dirty="0"/>
          </a:p>
        </p:txBody>
      </p:sp>
      <p:sp>
        <p:nvSpPr>
          <p:cNvPr id="49" name="Text 47"/>
          <p:cNvSpPr/>
          <p:nvPr/>
        </p:nvSpPr>
        <p:spPr>
          <a:xfrm>
            <a:off x="640080" y="6300216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Also: constants.ts, format.ts, and small persona/creator helpers — shared building blocks used throughout.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57200" y="647395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TasteTailor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686800" y="647395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84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RECIPE GETS MADE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Generation Process (AI Flow)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77444" y="1783080"/>
            <a:ext cx="13258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68884" y="185623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4C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50596" y="2112264"/>
            <a:ext cx="117957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1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100" dirty="0"/>
          </a:p>
          <a:p>
            <a:pPr marL="0" indent="0">
              <a:lnSpc>
                <a:spcPts val="1200"/>
              </a:lnSpc>
              <a:buNone/>
            </a:pPr>
            <a:r>
              <a:rPr lang="en-US" sz="11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903324" y="1783080"/>
            <a:ext cx="29260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195932" y="1783080"/>
            <a:ext cx="13258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287372" y="185623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4C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269084" y="2112264"/>
            <a:ext cx="117957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1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</a:t>
            </a:r>
            <a:endParaRPr lang="en-US" sz="1100" dirty="0"/>
          </a:p>
          <a:p>
            <a:pPr marL="0" indent="0">
              <a:lnSpc>
                <a:spcPts val="1200"/>
              </a:lnSpc>
              <a:buNone/>
            </a:pPr>
            <a:r>
              <a:rPr lang="en-US" sz="11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521812" y="1783080"/>
            <a:ext cx="29260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814420" y="1783080"/>
            <a:ext cx="13258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3905860" y="185623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4C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887572" y="2112264"/>
            <a:ext cx="117957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1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Guarded</a:t>
            </a:r>
            <a:endParaRPr lang="en-US" sz="1100" dirty="0"/>
          </a:p>
          <a:p>
            <a:pPr marL="0" indent="0">
              <a:lnSpc>
                <a:spcPts val="1200"/>
              </a:lnSpc>
              <a:buNone/>
            </a:pPr>
            <a:r>
              <a:rPr lang="en-US" sz="11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140300" y="1783080"/>
            <a:ext cx="29260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32908" y="1783080"/>
            <a:ext cx="1325880" cy="1005840"/>
          </a:xfrm>
          <a:prstGeom prst="roundRect">
            <a:avLst>
              <a:gd name="adj" fmla="val 7273"/>
            </a:avLst>
          </a:prstGeom>
          <a:solidFill>
            <a:srgbClr val="FDE7C3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5524348" y="185623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4C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506060" y="2112264"/>
            <a:ext cx="117957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1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</a:t>
            </a:r>
            <a:endParaRPr lang="en-US" sz="1100" dirty="0"/>
          </a:p>
          <a:p>
            <a:pPr marL="0" indent="0">
              <a:lnSpc>
                <a:spcPts val="1200"/>
              </a:lnSpc>
              <a:buNone/>
            </a:pPr>
            <a:r>
              <a:rPr lang="en-US" sz="11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758788" y="1783080"/>
            <a:ext cx="29260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051396" y="1783080"/>
            <a:ext cx="13258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7142836" y="185623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4C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24548" y="2112264"/>
            <a:ext cx="117957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1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100" dirty="0"/>
          </a:p>
          <a:p>
            <a:pPr marL="0" indent="0">
              <a:lnSpc>
                <a:spcPts val="1200"/>
              </a:lnSpc>
              <a:buNone/>
            </a:pPr>
            <a:r>
              <a:rPr lang="en-US" sz="11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377276" y="1783080"/>
            <a:ext cx="29260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669884" y="1783080"/>
            <a:ext cx="13258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8761324" y="185623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4C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743036" y="2112264"/>
            <a:ext cx="117957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1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</a:t>
            </a:r>
            <a:endParaRPr lang="en-US" sz="1100" dirty="0"/>
          </a:p>
          <a:p>
            <a:pPr marL="0" indent="0">
              <a:lnSpc>
                <a:spcPts val="1200"/>
              </a:lnSpc>
              <a:buNone/>
            </a:pPr>
            <a:r>
              <a:rPr lang="en-US" sz="11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995764" y="1783080"/>
            <a:ext cx="29260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0288372" y="1783080"/>
            <a:ext cx="13258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10379812" y="185623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4C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361524" y="2112264"/>
            <a:ext cx="117957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1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</a:t>
            </a:r>
            <a:endParaRPr lang="en-US" sz="1100" dirty="0"/>
          </a:p>
          <a:p>
            <a:pPr marL="0" indent="0">
              <a:lnSpc>
                <a:spcPts val="1200"/>
              </a:lnSpc>
              <a:buNone/>
            </a:pPr>
            <a:r>
              <a:rPr lang="en-US" sz="11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" y="3200400"/>
            <a:ext cx="3520440" cy="27889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640080" y="3200400"/>
            <a:ext cx="3520440" cy="502920"/>
          </a:xfrm>
          <a:prstGeom prst="roundRect">
            <a:avLst>
              <a:gd name="adj" fmla="val 14545"/>
            </a:avLst>
          </a:prstGeom>
          <a:solidFill>
            <a:srgbClr val="141814"/>
          </a:solidFill>
          <a:ln w="12700">
            <a:solidFill>
              <a:srgbClr val="14181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822960" y="320040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Integration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68680" y="3886200"/>
            <a:ext cx="3063240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 is called through one abstracted provider interface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retries and an optional fallback model if the primary is overloaded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features — generate and refine — share the exact same pipeline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416552" y="3200400"/>
            <a:ext cx="3520440" cy="27889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4416552" y="3200400"/>
            <a:ext cx="3520440" cy="502920"/>
          </a:xfrm>
          <a:prstGeom prst="roundRect">
            <a:avLst>
              <a:gd name="adj" fmla="val 14545"/>
            </a:avLst>
          </a:prstGeom>
          <a:solidFill>
            <a:srgbClr val="141814"/>
          </a:solidFill>
          <a:ln w="12700">
            <a:solidFill>
              <a:srgbClr val="14181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4599432" y="320040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Prompting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4645152" y="3886200"/>
            <a:ext cx="3063240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system prompt restricts the model to culinary tasks only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prompt is built from the user's real diet, allergies, and goals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must return one exact, structured JSON shape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193024" y="3200400"/>
            <a:ext cx="3520440" cy="27889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8193024" y="3200400"/>
            <a:ext cx="3520440" cy="502920"/>
          </a:xfrm>
          <a:prstGeom prst="roundRect">
            <a:avLst>
              <a:gd name="adj" fmla="val 14545"/>
            </a:avLst>
          </a:prstGeom>
          <a:solidFill>
            <a:srgbClr val="141814"/>
          </a:solidFill>
          <a:ln w="12700">
            <a:solidFill>
              <a:srgbClr val="14181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8375904" y="320040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421624" y="3886200"/>
            <a:ext cx="3063240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AI's response is schema-validated before it's ever trusted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non-culinary refusal never refunds the user's daily quota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API key that talks to Gemini never reaches the browser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TasteTailor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686800" y="647395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84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SHOW, DON'T TELL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Demo Script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up → onboarding (diet type + allergy)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— adapt mode: paste a recipe, name a known creator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Recipe detail: Insights box explains a substitution; persona-fallback banner if it occurs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servings live, client-side, no reload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to shopping list from two recipes → show matching ingredients merge, differing units stay separate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Refine: “make it spicier” → recipe updates in place, chat history preserved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Favorite → filter into Favorites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Cook mode: checklist + print view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shopping list to clipboard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(Optional) Second test account → proves it cannot see the first account's data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TasteTailor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86800" y="647395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84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NOT CLAIMS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84C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828800" y="1737360"/>
            <a:ext cx="1325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Vitest files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74720" y="16916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3657600" y="173736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84C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663440" y="1737360"/>
            <a:ext cx="1325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Playwright specs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788920"/>
          <a:ext cx="10881360" cy="34290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 / Tool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covers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it matters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418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418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(Vitest)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3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logic in isolation — scaling math, ingredient merging, every Zod schema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3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Fast, dependency-free proof the underlying calculations and validation rules are correct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418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 / Integration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418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(Vitest + mock AI)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3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 API routes end-to-end: auth, validation, rate limits, error mapping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3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Proves the real request/response contract holds, deterministically, with no live AI call needed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418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UI / E2E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418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(Playwright)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3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user journeys, auth gates, and cross-user privilege isolation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3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Confirms real browser behavior — and that one account can never see another's data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418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 / Build scan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418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(Vitest + Script)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3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Secret hygiene and the actual compiled client bundle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3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Catches a secret key shipping to the browser — a mistake code review alone can miss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418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418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(Checklist)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3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couple of inherently timing-sensitive or hard-to-force cases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3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every behavior is worth forcing into flaky automation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457200" y="647395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TasteTailor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686800" y="647395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84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 IN DEPTH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520440" cy="42519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3520440" cy="594360"/>
          </a:xfrm>
          <a:prstGeom prst="roundRect">
            <a:avLst>
              <a:gd name="adj" fmla="val 12308"/>
            </a:avLst>
          </a:prstGeom>
          <a:solidFill>
            <a:srgbClr val="C84C09"/>
          </a:solidFill>
          <a:ln w="12700">
            <a:solidFill>
              <a:srgbClr val="C84C0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822960" y="1783080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25880" y="178308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Protection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30632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prompt restricts the model to culinary tasks only, refusing anything else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AI response is schema-validated before it's ever trusted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non-culinary refusal never refunds the user's quota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provider's key never reaches the browser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16552" y="1783080"/>
            <a:ext cx="3520440" cy="42519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4416552" y="1783080"/>
            <a:ext cx="3520440" cy="594360"/>
          </a:xfrm>
          <a:prstGeom prst="roundRect">
            <a:avLst>
              <a:gd name="adj" fmla="val 12308"/>
            </a:avLst>
          </a:prstGeom>
          <a:solidFill>
            <a:srgbClr val="C84C09"/>
          </a:solidFill>
          <a:ln w="12700">
            <a:solidFill>
              <a:srgbClr val="C84C0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4599432" y="1783080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102352" y="178308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 Protection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645152" y="2606040"/>
            <a:ext cx="30632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 Level Security enforced on every table, scoped to the caller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direct way to create a profile except one controlled, server-side path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Rate-limit checks run as a single atomic database operation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write is scoped to rows the caller actually owns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93024" y="1783080"/>
            <a:ext cx="3520440" cy="42519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8193024" y="1783080"/>
            <a:ext cx="3520440" cy="594360"/>
          </a:xfrm>
          <a:prstGeom prst="roundRect">
            <a:avLst>
              <a:gd name="adj" fmla="val 12308"/>
            </a:avLst>
          </a:prstGeom>
          <a:solidFill>
            <a:srgbClr val="C84C09"/>
          </a:solidFill>
          <a:ln w="12700">
            <a:solidFill>
              <a:srgbClr val="C84C0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8375904" y="1783080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878824" y="178308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 Protection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421624" y="2606040"/>
            <a:ext cx="30632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protected page and API route requires a valid session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 is re-checked on every mutation, never assumed from an id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AI-generated text and links are sanitized and allow-listed before rendering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error messages never hint at what does or doesn't exist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TasteTailor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686800" y="647395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84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HANDLING REAL LOAD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57800" cy="548640"/>
          </a:xfrm>
          <a:prstGeom prst="roundRect">
            <a:avLst>
              <a:gd name="adj" fmla="val 13333"/>
            </a:avLst>
          </a:prstGeom>
          <a:solidFill>
            <a:srgbClr val="141814"/>
          </a:solidFill>
          <a:ln w="12700">
            <a:solidFill>
              <a:srgbClr val="14181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868680" y="1783080"/>
            <a:ext cx="4800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Per-User Rate Limiting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2514600"/>
            <a:ext cx="4800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user gets a fixed number of recipe generations per day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Enforced as one atomic database check-and-increment — safe even under simultaneous requests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failed generation refunds the user's quota automatically; a rejected non-culinary request does not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783080"/>
            <a:ext cx="525780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257800" cy="548640"/>
          </a:xfrm>
          <a:prstGeom prst="roundRect">
            <a:avLst>
              <a:gd name="adj" fmla="val 13333"/>
            </a:avLst>
          </a:prstGeom>
          <a:solidFill>
            <a:srgbClr val="C84C09"/>
          </a:solidFill>
          <a:ln w="12700">
            <a:solidFill>
              <a:srgbClr val="C84C0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6492240" y="1783080"/>
            <a:ext cx="4800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Working Within the AI Model's Limits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2514600"/>
            <a:ext cx="4800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provider enforces its own request-volume and token limits, shared across every user of the key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high demand, a request can be throttled, rejected, or time out — a real constraint of any third-party model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Handled with automatic retries, a bounded attempt budget, and an optional fallback model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502920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914400" y="5138928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Other scale considerations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468112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 &amp; Favorites paginate at 12 items per page  ·  photo lookups are capped at a short timeout so they never block saving a recipe  ·  refine's chat history is capped in length to keep each request fast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TasteTailor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686800" y="647395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84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ABOUT SCOPE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Known Limitations &amp; Roadmap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914400" y="20116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Disclosed MVP boundaries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47548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automatic unit conversion (cups ↔ grams) — exact-match merge only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is a shared external dependency with its own rate limits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25780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7DE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6537960" y="20116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37960" y="2560320"/>
            <a:ext cx="47548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unit conversion for shopping-list merging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AI generation off the synchronous request path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4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deploy — pending dashboard access, not code</a:t>
            </a:r>
            <a:endParaRPr lang="he-IL" sz="1450" dirty="0">
              <a:solidFill>
                <a:srgbClr val="141814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GB" sz="1450" dirty="0"/>
              <a:t>The platform can expand to a B2B2C model, allowing dietitians and personal trainers to use the tool to tailor recipes for their clients.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endParaRPr lang="en-GB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TasteTailor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0" y="647395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0" y="2651760"/>
            <a:ext cx="1219169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0" y="384048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BFC4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TasteTailor — Recipes fitted to how you eat.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1332</Words>
  <Application>Microsoft Office PowerPoint</Application>
  <PresentationFormat>Widescreen</PresentationFormat>
  <Paragraphs>253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אריאל ירושלמי</cp:lastModifiedBy>
  <cp:revision>3</cp:revision>
  <dcterms:created xsi:type="dcterms:W3CDTF">2026-09-01T07:40:55Z</dcterms:created>
  <dcterms:modified xsi:type="dcterms:W3CDTF">2026-09-01T08:45:50Z</dcterms:modified>
</cp:coreProperties>
</file>