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9848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0" y="2286000"/>
            <a:ext cx="121916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TasteTailor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0" y="36576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0C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Recipes fitted to you.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57607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FC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Personalized Recipe Platform  ·  Course Presentation</a:t>
            </a:r>
            <a:endParaRPr lang="en-US" sz="15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A303BD83-476B-36D9-F75C-BA1D88E83EAF}"/>
              </a:ext>
            </a:extLst>
          </p:cNvPr>
          <p:cNvSpPr/>
          <p:nvPr/>
        </p:nvSpPr>
        <p:spPr>
          <a:xfrm>
            <a:off x="3127760" y="4211655"/>
            <a:ext cx="59222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4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68680" y="1883664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4C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883664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Solution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587752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68680" y="264261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4C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642616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— structure, libraries, AI pipeline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34670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68680" y="34015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4C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401568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4105656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68680" y="41605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4C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41605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Security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864608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68680" y="491947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4C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919472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&amp; Limitations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562356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868680" y="5678424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4C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5678424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TasteTailor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0" y="64739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4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TASTETAILOR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meals tailored to strict nutritional needs is frustrating</a:t>
            </a:r>
            <a:endParaRPr lang="he-IL" sz="1500" dirty="0">
              <a:solidFill>
                <a:srgbClr val="141814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Converting saved meals into an organized shopping list is a hassle.</a:t>
            </a:r>
          </a:p>
          <a:p>
            <a:pPr marL="285750" indent="-28575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adapt trending dishes to specific goals (e.g., Celiac, high-protein).</a:t>
            </a:r>
          </a:p>
          <a:p>
            <a:pPr marL="285750" indent="-28575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easy way to adjust recipes based on ingredients already at home.</a:t>
            </a:r>
          </a:p>
          <a:p>
            <a:pPr marL="285750" indent="-28575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endParaRPr lang="en-GB" sz="1500" dirty="0">
              <a:solidFill>
                <a:srgbClr val="141814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141814"/>
          </a:solidFill>
          <a:ln w="12700">
            <a:solidFill>
              <a:srgbClr val="14181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8" name="Text 6"/>
          <p:cNvSpPr/>
          <p:nvPr/>
        </p:nvSpPr>
        <p:spPr>
          <a:xfrm>
            <a:off x="6537960" y="2011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 - </a:t>
            </a:r>
            <a:r>
              <a:rPr lang="en-US" b="1" kern="0" spc="200" dirty="0">
                <a:solidFill>
                  <a:srgbClr val="C84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TASTETAILOR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256032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GB" sz="1500" dirty="0">
                <a:solidFill>
                  <a:schemeClr val="bg1"/>
                </a:solidFill>
              </a:rPr>
              <a:t>Paste a recipe or just name a dish.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GB" sz="1500" dirty="0">
                <a:solidFill>
                  <a:schemeClr val="bg1"/>
                </a:solidFill>
              </a:rPr>
              <a:t>AI rewrites it to fit your saved dietary profile.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GB" sz="1500" dirty="0">
                <a:solidFill>
                  <a:schemeClr val="bg1"/>
                </a:solidFill>
              </a:rPr>
              <a:t>Every substitution in the recipe is explained.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GB" sz="1500" dirty="0">
                <a:solidFill>
                  <a:schemeClr val="bg1"/>
                </a:solidFill>
              </a:rPr>
              <a:t>Easily tweak and adjust the generated recipe to fit your preferences.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GB" sz="1500" dirty="0">
                <a:solidFill>
                  <a:schemeClr val="bg1"/>
                </a:solidFill>
              </a:rPr>
              <a:t>Automatically merges multiple meals into one consolidated shopping list.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GB" sz="1500" dirty="0">
                <a:solidFill>
                  <a:schemeClr val="bg1"/>
                </a:solidFill>
              </a:rPr>
              <a:t>Save your </a:t>
            </a:r>
            <a:r>
              <a:rPr lang="en-GB" sz="1500" dirty="0" err="1">
                <a:solidFill>
                  <a:schemeClr val="bg1"/>
                </a:solidFill>
              </a:rPr>
              <a:t>favorite</a:t>
            </a:r>
            <a:r>
              <a:rPr lang="en-GB" sz="1500" dirty="0">
                <a:solidFill>
                  <a:schemeClr val="bg1"/>
                </a:solidFill>
              </a:rPr>
              <a:t> tailored recipes for quick access.</a:t>
            </a:r>
          </a:p>
          <a:p>
            <a:pPr>
              <a:spcAft>
                <a:spcPts val="1000"/>
              </a:spcAft>
              <a:buSzPct val="100000"/>
            </a:pP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TasteTailor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0" y="64739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4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CODEBASE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Structure &amp; 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651760" y="16916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41814"/>
          </a:solidFill>
          <a:ln w="12700">
            <a:solidFill>
              <a:srgbClr val="14181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651760" y="1691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tastetailor/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 flipH="1">
            <a:off x="1440180" y="2194560"/>
            <a:ext cx="2125980" cy="320040"/>
          </a:xfrm>
          <a:prstGeom prst="line">
            <a:avLst/>
          </a:prstGeom>
          <a:noFill/>
          <a:ln w="15875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40080" y="25877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84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app/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&amp; API routes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(Next.js App Router)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 flipH="1">
            <a:off x="3479292" y="2194560"/>
            <a:ext cx="86868" cy="320040"/>
          </a:xfrm>
          <a:prstGeom prst="line">
            <a:avLst/>
          </a:prstGeom>
          <a:noFill/>
          <a:ln w="15875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587752" y="251460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679192" y="25877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84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components/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679192" y="28803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UI, organized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feature area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66160" y="2194560"/>
            <a:ext cx="1952244" cy="320040"/>
          </a:xfrm>
          <a:prstGeom prst="line">
            <a:avLst/>
          </a:prstGeom>
          <a:noFill/>
          <a:ln w="15875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626864" y="251460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718304" y="25877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84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18304" y="28803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logic, AI,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validation, utilities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 flipH="1">
            <a:off x="1440180" y="2194560"/>
            <a:ext cx="2125980" cy="1600200"/>
          </a:xfrm>
          <a:prstGeom prst="line">
            <a:avLst/>
          </a:prstGeom>
          <a:noFill/>
          <a:ln w="15875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40080" y="386791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84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types/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416052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TypeScript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definitions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 flipH="1">
            <a:off x="3479292" y="2194560"/>
            <a:ext cx="86868" cy="1600200"/>
          </a:xfrm>
          <a:prstGeom prst="line">
            <a:avLst/>
          </a:prstGeom>
          <a:noFill/>
          <a:ln w="15875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587752" y="379476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679192" y="386791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84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supabase/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2679192" y="416052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migrations —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source of truth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566160" y="2194560"/>
            <a:ext cx="1952244" cy="1600200"/>
          </a:xfrm>
          <a:prstGeom prst="line">
            <a:avLst/>
          </a:prstGeom>
          <a:noFill/>
          <a:ln w="15875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626864" y="379476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718304" y="386791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84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718304" y="416052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testing,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scale docs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537960" y="1691640"/>
            <a:ext cx="49834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6766560" y="18288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766560" y="2212848"/>
            <a:ext cx="4526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(App Router) + TypeScript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Tailwind CSS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— Postgres + Auth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— AI provider</a:t>
            </a:r>
            <a:endParaRPr lang="he-IL" sz="1300" dirty="0">
              <a:solidFill>
                <a:srgbClr val="141814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err="1">
                <a:solidFill>
                  <a:srgbClr val="141814"/>
                </a:solidFill>
                <a:latin typeface="Arial" pitchFamily="34" charset="0"/>
                <a:cs typeface="Arial" pitchFamily="34" charset="-120"/>
              </a:rPr>
              <a:t>Vercel</a:t>
            </a:r>
            <a:r>
              <a:rPr lang="en-US" sz="1300" dirty="0">
                <a:solidFill>
                  <a:srgbClr val="141814"/>
                </a:solidFill>
                <a:latin typeface="Arial" pitchFamily="34" charset="0"/>
                <a:cs typeface="Arial" pitchFamily="34" charset="-120"/>
              </a:rPr>
              <a:t> - Deployment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37960" y="3886200"/>
            <a:ext cx="49834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6766560" y="402336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766560" y="4407408"/>
            <a:ext cx="4526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</a:t>
            </a:r>
            <a:endParaRPr lang="en-US" sz="1300" dirty="0"/>
          </a:p>
          <a:p>
            <a:pPr marL="0" lvl="1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dietary preferences &amp; daily generation quota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recipes</a:t>
            </a:r>
            <a:endParaRPr lang="en-US" sz="1300" dirty="0"/>
          </a:p>
          <a:p>
            <a:pPr marL="0" lvl="1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generated recipe, owned by its user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shopping_list_items</a:t>
            </a:r>
            <a:endParaRPr lang="en-US" sz="1300" dirty="0"/>
          </a:p>
          <a:p>
            <a:pPr marL="0" lvl="1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active, merged shopping list per user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766560" y="6263640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FDE7C3"/>
          </a:solidFill>
          <a:ln w="12700">
            <a:solidFill>
              <a:srgbClr val="FDE7C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903720" y="6263640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A3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Level Security enforced on every table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TasteTailor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86800" y="64739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4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IN-HOUSE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Libraries (lib/)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4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C84C09"/>
          </a:solidFill>
          <a:ln w="12700">
            <a:solidFill>
              <a:srgbClr val="C84C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600" y="1901952"/>
            <a:ext cx="2575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ai/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258568"/>
            <a:ext cx="316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integration, prompt construction, and validating the model's output before it's trusted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358640" y="1783080"/>
            <a:ext cx="344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495800" y="192024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C84C09"/>
          </a:solidFill>
          <a:ln w="12700">
            <a:solidFill>
              <a:srgbClr val="C84C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495800" y="19202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90160" y="1901952"/>
            <a:ext cx="2575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validation/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95800" y="2258568"/>
            <a:ext cx="316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set of rules for what a valid request looks like — used by client and server alike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077200" y="1783080"/>
            <a:ext cx="344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8214360" y="192024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C84C09"/>
          </a:solidFill>
          <a:ln w="12700">
            <a:solidFill>
              <a:srgbClr val="C84C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214360" y="19202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08720" y="1901952"/>
            <a:ext cx="2575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supabase/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14360" y="2258568"/>
            <a:ext cx="316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purpose-built database clients for the browser, the server, and route protection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40080" y="3273552"/>
            <a:ext cx="344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777240" y="3410712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C84C09"/>
          </a:solidFill>
          <a:ln w="12700">
            <a:solidFill>
              <a:srgbClr val="C84C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77240" y="341071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71600" y="3392424"/>
            <a:ext cx="2575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shopping/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3749040"/>
            <a:ext cx="316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Ingredient merging, serving-size scaling, and shopping-list export formatting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358640" y="3273552"/>
            <a:ext cx="344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495800" y="3410712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C84C09"/>
          </a:solidFill>
          <a:ln w="12700">
            <a:solidFill>
              <a:srgbClr val="C84C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495800" y="341071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90160" y="3392424"/>
            <a:ext cx="2575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images/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495800" y="3749040"/>
            <a:ext cx="316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third-party photo lookup, with a strict allowlist before anything is rendered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077200" y="3273552"/>
            <a:ext cx="344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8214360" y="3410712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C84C09"/>
          </a:solidFill>
          <a:ln w="12700">
            <a:solidFill>
              <a:srgbClr val="C84C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8214360" y="341071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808720" y="3392424"/>
            <a:ext cx="2575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security/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14360" y="3749040"/>
            <a:ext cx="316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single, tested gate deciding whether an AI-supplied link is safe to render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40080" y="4764024"/>
            <a:ext cx="344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777240" y="4901184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C84C09"/>
          </a:solidFill>
          <a:ln w="12700">
            <a:solidFill>
              <a:srgbClr val="C84C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777240" y="490118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371600" y="4882896"/>
            <a:ext cx="2575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recipes/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77240" y="5239512"/>
            <a:ext cx="316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the refine feature's chat history — appending, trimming, and prompt windowing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4358640" y="4764024"/>
            <a:ext cx="344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4495800" y="4901184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C84C09"/>
          </a:solidFill>
          <a:ln w="12700">
            <a:solidFill>
              <a:srgbClr val="C84C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4495800" y="490118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90160" y="4882896"/>
            <a:ext cx="2575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profile/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4495800" y="5239512"/>
            <a:ext cx="316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“get the logged-in user + profile” helper, reused across the app</a:t>
            </a:r>
            <a:endParaRPr lang="en-US" sz="1080" dirty="0"/>
          </a:p>
        </p:txBody>
      </p:sp>
      <p:sp>
        <p:nvSpPr>
          <p:cNvPr id="44" name="Shape 42"/>
          <p:cNvSpPr/>
          <p:nvPr/>
        </p:nvSpPr>
        <p:spPr>
          <a:xfrm>
            <a:off x="8077200" y="4764024"/>
            <a:ext cx="344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8214360" y="4901184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C84C09"/>
          </a:solidFill>
          <a:ln w="12700">
            <a:solidFill>
              <a:srgbClr val="C84C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8214360" y="490118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808720" y="4882896"/>
            <a:ext cx="2575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generate/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214360" y="5239512"/>
            <a:ext cx="316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a server error code into consistent, friendly copy on every form</a:t>
            </a:r>
            <a:endParaRPr lang="en-US" sz="1080" dirty="0"/>
          </a:p>
        </p:txBody>
      </p:sp>
      <p:sp>
        <p:nvSpPr>
          <p:cNvPr id="49" name="Text 47"/>
          <p:cNvSpPr/>
          <p:nvPr/>
        </p:nvSpPr>
        <p:spPr>
          <a:xfrm>
            <a:off x="640080" y="6300216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Also: constants.ts, format.ts, and small persona/creator helpers — shared building blocks used throughout.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7200" y="64739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TasteTailor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686800" y="64739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4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RECIPE GETS MADE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Generation Process (AI Flow)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77444" y="178308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68884" y="185623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4C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0596" y="2112264"/>
            <a:ext cx="11795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1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03324" y="1783080"/>
            <a:ext cx="292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95932" y="178308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287372" y="185623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4C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69084" y="2112264"/>
            <a:ext cx="11795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1812" y="1783080"/>
            <a:ext cx="292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4420" y="178308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905860" y="185623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4C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87572" y="2112264"/>
            <a:ext cx="11795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Guarded</a:t>
            </a:r>
            <a:endParaRPr lang="en-US" sz="11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40300" y="1783080"/>
            <a:ext cx="292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32908" y="178308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DE7C3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524348" y="185623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4C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06060" y="2112264"/>
            <a:ext cx="11795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</a:t>
            </a:r>
            <a:endParaRPr lang="en-US" sz="11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58788" y="1783080"/>
            <a:ext cx="292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051396" y="178308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142836" y="185623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4C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24548" y="2112264"/>
            <a:ext cx="11795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1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77276" y="1783080"/>
            <a:ext cx="292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669884" y="178308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8761324" y="185623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4C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743036" y="2112264"/>
            <a:ext cx="11795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</a:t>
            </a:r>
            <a:endParaRPr lang="en-US" sz="11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995764" y="1783080"/>
            <a:ext cx="292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288372" y="178308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10379812" y="185623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4C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361524" y="2112264"/>
            <a:ext cx="11795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</a:t>
            </a:r>
            <a:endParaRPr lang="en-US" sz="11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3200400"/>
            <a:ext cx="352044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640080" y="320040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141814"/>
          </a:solidFill>
          <a:ln w="12700">
            <a:solidFill>
              <a:srgbClr val="14181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822960" y="32004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Integration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68680" y="3886200"/>
            <a:ext cx="30632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is called through one abstracted provider interface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retries and an optional fallback model if the primary is overloaded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features — generate and refine — share the exact same pipeline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416552" y="3200400"/>
            <a:ext cx="352044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4416552" y="320040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141814"/>
          </a:solidFill>
          <a:ln w="12700">
            <a:solidFill>
              <a:srgbClr val="14181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4599432" y="32004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Prompting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645152" y="3886200"/>
            <a:ext cx="30632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system prompt restricts the model to culinary tasks only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prompt is built from the user's real diet, allergies, and goals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must return one exact, structured JSON shape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193024" y="3200400"/>
            <a:ext cx="352044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8193024" y="320040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141814"/>
          </a:solidFill>
          <a:ln w="12700">
            <a:solidFill>
              <a:srgbClr val="14181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8375904" y="32004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421624" y="3886200"/>
            <a:ext cx="30632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AI's response is schema-validated before it's ever trusted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non-culinary refusal never refunds the user's daily quota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API key that talks to Gemini never reaches the browser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TasteTailor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686800" y="64739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4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SHOW, DON'T TELL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 Script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https://screenapp.io/app?utm_source=homepage&amp;utm_medium=hero_cta&amp;utm_campaign=user_onboarding&amp;utm_content=primary_cta_button#/library/6a969722e81d530202bc3bf0/recents/184713d2-79fc-4792-b0dd-8c9a94ca6669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→ onboarding (diet type + allergy)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— adapt mode: paste a recipe, name a known creator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 detail: Insights box explains a substitution; persona-fallback banner if it occurs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servings live, client-side, no reload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shopping list from two recipes → show matching ingredients merge, differing units stay separate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Refine: “make it spicier” → recipe updates in place, chat history preserved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Favorite → filter into Favorites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 mode: checklist + print view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shopping list to clipboard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(Optional) Second test account → proves it cannot see the first account's data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TasteTailor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0" y="64739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4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PROOF, NOT CLAIMS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84C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173736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 files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6916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657600" y="173736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84C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663440" y="173736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specs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788920"/>
          <a:ext cx="10881360" cy="34290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/ 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covers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18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18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(Vitest)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3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logic in isolation — scaling math, ingredient merging, every Zod schema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3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Fast, dependency-free proof the underlying calculations and validation rules are correct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18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/ Integration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18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(Vitest + mock AI)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3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 API routes end-to-end: auth, validation, rate limits, error mapping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3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Proves the real request/response contract holds, deterministically, with no live AI call needed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18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 / E2E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18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(Playwright)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3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user journeys, auth gates, and cross-user privilege isolation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3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Confirms real browser behavior — and that one account can never see another's data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18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 / Build scan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18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(Vitest + Script)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3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 hygiene and the actual compiled client bundle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3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Catches a secret key shipping to the browser — a mistake code review alone can miss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18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18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(Checklist)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3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couple of inherently timing-sensitive or hard-to-force cases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3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every behavior is worth forcing into flaky automation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64739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TasteTailor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0" y="64739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4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IN DEPTH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520440" cy="594360"/>
          </a:xfrm>
          <a:prstGeom prst="roundRect">
            <a:avLst>
              <a:gd name="adj" fmla="val 12308"/>
            </a:avLst>
          </a:prstGeom>
          <a:solidFill>
            <a:srgbClr val="C84C09"/>
          </a:solidFill>
          <a:ln w="12700">
            <a:solidFill>
              <a:srgbClr val="C84C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7830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Protection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3063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 restricts the model to culinary tasks only, refusing anything else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 response is schema-validated before it's ever trusted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non-culinary refusal never refunds the user's quota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provider's key never reaches the browser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16552" y="178308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416552" y="1783080"/>
            <a:ext cx="3520440" cy="594360"/>
          </a:xfrm>
          <a:prstGeom prst="roundRect">
            <a:avLst>
              <a:gd name="adj" fmla="val 12308"/>
            </a:avLst>
          </a:prstGeom>
          <a:solidFill>
            <a:srgbClr val="C84C09"/>
          </a:solidFill>
          <a:ln w="12700">
            <a:solidFill>
              <a:srgbClr val="C84C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599432" y="17830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02352" y="17830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Protection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45152" y="2606040"/>
            <a:ext cx="3063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Level Security enforced on every table, scoped to the caller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direct way to create a profile except one controlled, server-side path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Rate-limit checks run as a single atomic database operation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write is scoped to rows the caller actually owns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93024" y="178308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8193024" y="1783080"/>
            <a:ext cx="3520440" cy="594360"/>
          </a:xfrm>
          <a:prstGeom prst="roundRect">
            <a:avLst>
              <a:gd name="adj" fmla="val 12308"/>
            </a:avLst>
          </a:prstGeom>
          <a:solidFill>
            <a:srgbClr val="C84C09"/>
          </a:solidFill>
          <a:ln w="12700">
            <a:solidFill>
              <a:srgbClr val="C84C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375904" y="17830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878824" y="17830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Protection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21624" y="2606040"/>
            <a:ext cx="3063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protected page and API route requires a valid session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is re-checked on every mutation, never assumed from an id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text and links are sanitized and allow-listed before rendering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error messages never hint at what does or doesn't exist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TasteTailor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0" y="64739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4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REAL LOAD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57800" cy="548640"/>
          </a:xfrm>
          <a:prstGeom prst="roundRect">
            <a:avLst>
              <a:gd name="adj" fmla="val 13333"/>
            </a:avLst>
          </a:prstGeom>
          <a:solidFill>
            <a:srgbClr val="141814"/>
          </a:solidFill>
          <a:ln w="12700">
            <a:solidFill>
              <a:srgbClr val="14181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Per-User Rate Limiting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800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user gets a fixed number of recipe generations per day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as one atomic database check-and-increment — safe even under simultaneous requests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failed generation refunds the user's quota automatically; a rejected non-culinary request does not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548640"/>
          </a:xfrm>
          <a:prstGeom prst="roundRect">
            <a:avLst>
              <a:gd name="adj" fmla="val 13333"/>
            </a:avLst>
          </a:prstGeom>
          <a:solidFill>
            <a:srgbClr val="C84C09"/>
          </a:solidFill>
          <a:ln w="12700">
            <a:solidFill>
              <a:srgbClr val="C84C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92240" y="178308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Within the AI Model's Limits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514600"/>
            <a:ext cx="4800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provider enforces its own request-volume and token limits, shared across every user of the key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high demand, a request can be throttled, rejected, or time out — a real constraint of any third-party model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4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 with automatic retries, a bounded attempt budget, and an optional fallback model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0292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914400" y="513892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 scale considerations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468112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&amp; Favorites paginate at 12 items per page  ·  photo lookups are capped at a short timeout so they never block saving a recipe  ·  refine's chat history is capped in length to keep each request fast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TasteTailor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0" y="64739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4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ABOUT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Limitations &amp;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Disclosed MVP boundaries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1814"/>
                </a:solidFill>
                <a:ea typeface="Arial" pitchFamily="34" charset="-122"/>
                <a:cs typeface="Arial" pitchFamily="34" charset="-120"/>
              </a:rPr>
              <a:t>No automatic unit conversion (cups ↔ grams) — exact-match merge only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1814"/>
                </a:solidFill>
                <a:ea typeface="Arial" pitchFamily="34" charset="-122"/>
                <a:cs typeface="Arial" pitchFamily="34" charset="-120"/>
              </a:rPr>
              <a:t>Gemini is a shared external dependency with its own rate limits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537960" y="2011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56032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1814"/>
                </a:solidFill>
                <a:ea typeface="Arial" pitchFamily="34" charset="-122"/>
                <a:cs typeface="Arial" pitchFamily="34" charset="-120"/>
              </a:rPr>
              <a:t>Automatic unit conversion for shopping-list merging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1814"/>
                </a:solidFill>
                <a:ea typeface="Arial" pitchFamily="34" charset="-122"/>
                <a:cs typeface="Arial" pitchFamily="34" charset="-120"/>
              </a:rPr>
              <a:t>Move AI generation off the synchronous request path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1814"/>
                </a:solidFill>
                <a:ea typeface="Arial" pitchFamily="34" charset="-122"/>
                <a:cs typeface="Arial" pitchFamily="34" charset="-120"/>
              </a:rPr>
              <a:t>Production deploy — pending dashboard access, not code</a:t>
            </a:r>
            <a:endParaRPr lang="he-IL" sz="1450" dirty="0">
              <a:solidFill>
                <a:srgbClr val="141814"/>
              </a:solidFill>
              <a:ea typeface="Arial" pitchFamily="34" charset="-122"/>
              <a:cs typeface="Arial" pitchFamily="34" charset="-12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GB" sz="1450" dirty="0"/>
              <a:t>The platform can expand to a B2B2C model, allowing dietitians and personal trainers to use the tool to tailor recipes for their clients.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GB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TasteTailor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0" y="64739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0" y="265176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FC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TasteTailor — Recipes fitted to how you eat.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1381</Words>
  <Application>Microsoft Office PowerPoint</Application>
  <PresentationFormat>Widescreen</PresentationFormat>
  <Paragraphs>255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אריאל ירושלמי</cp:lastModifiedBy>
  <cp:revision>6</cp:revision>
  <dcterms:created xsi:type="dcterms:W3CDTF">2026-09-01T07:40:55Z</dcterms:created>
  <dcterms:modified xsi:type="dcterms:W3CDTF">2026-09-01T09:59:49Z</dcterms:modified>
</cp:coreProperties>
</file>